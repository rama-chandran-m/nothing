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A14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4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2B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00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South</c:v>
                  </c:pt>
                  <c:pt idx="2">
                    <c:v>West</c:v>
                  </c:pt>
                  <c:pt idx="3">
                    <c:v>East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275855</c:v>
                </c:pt>
                <c:pt idx="1">
                  <c:v>169707</c:v>
                </c:pt>
                <c:pt idx="2">
                  <c:v>144340</c:v>
                </c:pt>
                <c:pt idx="3">
                  <c:v>142196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007E"/>
              </a:solidFill>
              <a:effectLst/>
            </c:spPr>
          </c:dPt>
          <c:dPt>
            <c:idx val="1"/>
            <c:bubble3D val="0"/>
            <c:spPr>
              <a:solidFill>
                <a:srgbClr val="1A14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Online</c:v>
                </c:pt>
                <c:pt idx="1">
                  <c:v>Offline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409710</c:v>
                </c:pt>
                <c:pt idx="1">
                  <c:v>322380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600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00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14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Office Supplies</c:v>
                  </c:pt>
                  <c:pt idx="1">
                    <c:v>Clothing</c:v>
                  </c:pt>
                  <c:pt idx="2">
                    <c:v>Electronics</c:v>
                  </c:pt>
                  <c:pt idx="3">
                    <c:v>Furniture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300000</c:v>
                </c:pt>
                <c:pt idx="1">
                  <c:v>180000</c:v>
                </c:pt>
                <c:pt idx="2">
                  <c:v>150000</c:v>
                </c:pt>
                <c:pt idx="3">
                  <c:v>100000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6007E"/>
            </a:solidFill>
            <a:ln w="25400" cap="flat">
              <a:solidFill>
                <a:srgbClr val="C600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007E"/>
              </a:solidFill>
              <a:ln w="9525" cap="flat">
                <a:solidFill>
                  <a:srgbClr val="C600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42000</c:v>
                </c:pt>
                <c:pt idx="1">
                  <c:v>38000</c:v>
                </c:pt>
                <c:pt idx="2">
                  <c:v>77000</c:v>
                </c:pt>
                <c:pt idx="3">
                  <c:v>35000</c:v>
                </c:pt>
                <c:pt idx="4">
                  <c:v>47000</c:v>
                </c:pt>
                <c:pt idx="5">
                  <c:v>50000</c:v>
                </c:pt>
                <c:pt idx="6">
                  <c:v>63000</c:v>
                </c:pt>
                <c:pt idx="7">
                  <c:v>57000</c:v>
                </c:pt>
                <c:pt idx="8">
                  <c:v>52000</c:v>
                </c:pt>
                <c:pt idx="9">
                  <c:v>55000</c:v>
                </c:pt>
                <c:pt idx="10">
                  <c:v>48000</c:v>
                </c:pt>
                <c:pt idx="11">
                  <c:v>40000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2B8F"/>
          </a:solidFill>
          <a:ln w="12700">
            <a:solidFill>
              <a:srgbClr val="2D2B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731520" cy="5143500"/>
          </a:xfrm>
          <a:prstGeom prst="rect">
            <a:avLst/>
          </a:prstGeom>
          <a:solidFill>
            <a:srgbClr val="C6007E">
              <a:alpha val="30000"/>
            </a:srgbClr>
          </a:solidFill>
          <a:ln w="12700">
            <a:solidFill>
              <a:srgbClr val="C6007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74320"/>
            <a:ext cx="1737360" cy="502920"/>
          </a:xfrm>
          <a:prstGeom prst="rect">
            <a:avLst>
              <a:gd name="adj" fmla="val 9091"/>
            </a:avLst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ABC CORP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Sales Performance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6007E"/>
                </a:solidFill>
              </a:rPr>
              <a:t>&amp; Customer Segmentation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Strategic Analysis | Power BI Case Study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280160" cy="685800"/>
          </a:xfrm>
          <a:prstGeom prst="rect">
            <a:avLst>
              <a:gd name="adj" fmla="val 10667"/>
            </a:avLst>
          </a:prstGeom>
          <a:solidFill>
            <a:srgbClr val="2D2B8F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₹732K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3291840"/>
            <a:ext cx="1280160" cy="685800"/>
          </a:xfrm>
          <a:prstGeom prst="rect">
            <a:avLst>
              <a:gd name="adj" fmla="val 10667"/>
            </a:avLst>
          </a:prstGeom>
          <a:solidFill>
            <a:srgbClr val="2D2B8F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7452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3291840"/>
            <a:ext cx="1280160" cy="685800"/>
          </a:xfrm>
          <a:prstGeom prst="rect">
            <a:avLst>
              <a:gd name="adj" fmla="val 10667"/>
            </a:avLst>
          </a:prstGeom>
          <a:solidFill>
            <a:srgbClr val="2D2B8F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₹1.46K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Avg. Order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1280160" cy="685800"/>
          </a:xfrm>
          <a:prstGeom prst="rect">
            <a:avLst>
              <a:gd name="adj" fmla="val 10667"/>
            </a:avLst>
          </a:prstGeom>
          <a:solidFill>
            <a:srgbClr val="2D2B8F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2.7K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Products Sold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777AA"/>
                </a:solidFill>
              </a:rPr>
              <a:t>Fiscal Years 2022–2023  |  Regions: North, South, East, West  |  Channels: Online &amp; Offline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Challenge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2D2B8F"/>
          </a:solidFill>
          <a:ln w="12700">
            <a:solidFill>
              <a:srgbClr val="2D2B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ABC Corp operates across multiple regions, selling products through online and offline channels. Leadership identified three critical concerns requiring data-driven resolution: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73152" cy="11430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Unequal Regional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Revenue heavily skewed toward North region (₹275K) vs East (₹142K), suggesting untapped growth potential in lower-performing areas.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73152" cy="11430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Customer Value Concentration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49631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28% of customers are 'At Risk' — the largest segment. Revenue may be disproportionately driven by a small subset of top customers.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29000"/>
            <a:ext cx="73152" cy="11430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Product &amp; Channel Imbalance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Online channel drives 55.96% of revenue vs 44.04% offline. Product mix performance across categories is uneven and not fully optimized.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429000"/>
            <a:ext cx="73152" cy="11430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Growth Volatility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77647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MoM revenue swings between +100% and -65%, indicating inconsistent sales patterns and lack of stable pipeline management.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Objective: Identify key revenue drivers, segment customers, and recommend growth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Analytical 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" cy="548640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9788" y="1572768"/>
            <a:ext cx="0" cy="256032"/>
          </a:xfrm>
          <a:prstGeom prst="line">
            <a:avLst/>
          </a:prstGeom>
          <a:noFill/>
          <a:ln w="19050">
            <a:solidFill>
              <a:srgbClr val="C6007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05840" y="914400"/>
            <a:ext cx="7772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Data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2435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Collected sales transactions, customer IDs, order values across regions, product categories, and channels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0" y="987552"/>
            <a:ext cx="1463040" cy="27432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 Prep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548640" cy="548640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" y="2377440"/>
            <a:ext cx="0" cy="256032"/>
          </a:xfrm>
          <a:prstGeom prst="line">
            <a:avLst/>
          </a:prstGeom>
          <a:noFill/>
          <a:ln w="19050">
            <a:solidFill>
              <a:srgbClr val="C6007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05840" y="1719072"/>
            <a:ext cx="7772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1792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KPI Modelling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0482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Built DAX measures for Total Revenue, AOV, Order Count, MoM/YoY growth, and cumulative % contribution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0" y="1792224"/>
            <a:ext cx="1463040" cy="27432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792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DAX / Measures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15184"/>
            <a:ext cx="548640" cy="548640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" y="3182112"/>
            <a:ext cx="0" cy="256032"/>
          </a:xfrm>
          <a:prstGeom prst="line">
            <a:avLst/>
          </a:prstGeom>
          <a:noFill/>
          <a:ln w="19050">
            <a:solidFill>
              <a:srgbClr val="C6007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05840" y="2523744"/>
            <a:ext cx="7772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Segmentation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28529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Applied RFM-based segmentation: Champions, Loyal, At Risk, New Customers, Lost Customers, Others (6 segments)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2596896"/>
            <a:ext cx="1463040" cy="27432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RFM 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419856"/>
            <a:ext cx="548640" cy="548640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" y="3986784"/>
            <a:ext cx="0" cy="256032"/>
          </a:xfrm>
          <a:prstGeom prst="line">
            <a:avLst/>
          </a:prstGeom>
          <a:noFill/>
          <a:ln w="19050">
            <a:solidFill>
              <a:srgbClr val="C6007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05840" y="3328416"/>
            <a:ext cx="7772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14300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Trend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3657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Time-series revenue &amp; order trends (Jan 2023–Mar 2024) with Power BI forecasting and daily forecast bands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401568"/>
            <a:ext cx="1463040" cy="27432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Forecasting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224528"/>
            <a:ext cx="548640" cy="548640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24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05840" y="4133088"/>
            <a:ext cx="7772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14300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Decomposition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44622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Revenue decomposition tree drilled from Region → Segment → Product Category → Channel for root-cause insight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2320" y="4206240"/>
            <a:ext cx="1463040" cy="27432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Decomp Tree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 ·  Revenue &amp; Customer Segments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Revenue by Region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18872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86868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Revenue by Channel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09160" y="1170432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32278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64"/>
                </a:solidFill>
              </a:rPr>
              <a:t>Customer Segment Distribution (50 customers)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3520440"/>
            <a:ext cx="1371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3520440"/>
            <a:ext cx="1371600" cy="73152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3593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007E"/>
                </a:solidFill>
              </a:rPr>
              <a:t>28%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2004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At Risk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004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 customers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783080" y="3520440"/>
            <a:ext cx="1371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783080" y="3520440"/>
            <a:ext cx="13716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783080" y="3593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2FBE"/>
                </a:solidFill>
              </a:rPr>
              <a:t>18%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78308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Others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78308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 customers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46120" y="3520440"/>
            <a:ext cx="1371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46120" y="3520440"/>
            <a:ext cx="1371600" cy="73152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46120" y="3593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464"/>
                </a:solidFill>
              </a:rPr>
              <a:t>16%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324612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Loyal Customers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24612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 customers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709160" y="3520440"/>
            <a:ext cx="1371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709160" y="3520440"/>
            <a:ext cx="1371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3593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16%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470916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Champions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70916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 customers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6172200" y="3520440"/>
            <a:ext cx="1371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172200" y="3520440"/>
            <a:ext cx="13716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172200" y="3593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14%</a:t>
            </a:r>
            <a:endParaRPr lang="en-US" sz="2400" dirty="0"/>
          </a:p>
        </p:txBody>
      </p:sp>
      <p:sp>
        <p:nvSpPr>
          <p:cNvPr id="35" name="Text 31"/>
          <p:cNvSpPr/>
          <p:nvPr/>
        </p:nvSpPr>
        <p:spPr>
          <a:xfrm>
            <a:off x="617220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New Customers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617220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 customers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635240" y="3520440"/>
            <a:ext cx="1371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7635240" y="3520440"/>
            <a:ext cx="137160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635240" y="3593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</a:rPr>
              <a:t>8%</a:t>
            </a:r>
            <a:endParaRPr lang="en-US" sz="2400" dirty="0"/>
          </a:p>
        </p:txBody>
      </p:sp>
      <p:sp>
        <p:nvSpPr>
          <p:cNvPr id="40" name="Text 36"/>
          <p:cNvSpPr/>
          <p:nvPr/>
        </p:nvSpPr>
        <p:spPr>
          <a:xfrm>
            <a:off x="763524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Lost Customers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763524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 customers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6007E"/>
                </a:solidFill>
              </a:rPr>
              <a:t>⚠  28% of customers are At Risk — the single largest segment, requiring immediate retention action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 ·  Products, Trends &amp; Top Customers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Revenue by Product Category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170432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8686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Monthly Revenue Trend (2023)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09160" y="1170432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3291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64"/>
                </a:solidFill>
              </a:rPr>
              <a:t>Growth Metrics (Latest Month)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3584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3584448"/>
            <a:ext cx="201168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36484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007E"/>
                </a:solidFill>
              </a:rPr>
              <a:t>-26.86%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20040" y="416052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Latest MoM Revenue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0040" y="4498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007E"/>
                </a:solidFill>
              </a:rPr>
              <a:t>Declining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468880" y="3584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68880" y="3584448"/>
            <a:ext cx="2011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68880" y="36484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+249%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468880" y="416052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YoY Revenue Growth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468880" y="4498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9669"/>
                </a:solidFill>
              </a:rPr>
              <a:t>Strong YoY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617720" y="3584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17720" y="3584448"/>
            <a:ext cx="201168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17720" y="36484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007E"/>
                </a:solidFill>
              </a:rPr>
              <a:t>-32.50%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4617720" y="416052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Order Growth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617720" y="4498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007E"/>
                </a:solidFill>
              </a:rPr>
              <a:t>Concerning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766560" y="3584448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766560" y="3584448"/>
            <a:ext cx="2011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66560" y="36484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+8.36%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6766560" y="416052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AOV Growth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766560" y="4498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9669"/>
                </a:solidFill>
              </a:rPr>
              <a:t>Positive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A1464">
              <a:alpha val="90000"/>
            </a:srgbClr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  Top Customer: Kyle Ramos (~₹25K)  |  Heather Snow leads by order count (19 orders)  |  Top 10 customers contribute ~35% of total revenue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&amp; Tactical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86968"/>
            <a:ext cx="4160520" cy="640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996696"/>
            <a:ext cx="777240" cy="2286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9966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URGENT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007E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978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At-Risk Customer Retention Program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344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007E"/>
                </a:solidFill>
              </a:rPr>
              <a:t>Strategic: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Launch a dedicated win-back campaign targeting the 14 'At Risk' customers (28% of base). Offer personalized discounts, loyalty rewards, and proactive outreach.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Tactical: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1965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Deploy email nurture sequences with time-sensitive offers within 30 days. Assign account managers to high-value at-risk customers.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886968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86968"/>
            <a:ext cx="4160520" cy="64008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996696"/>
            <a:ext cx="777240" cy="228600"/>
          </a:xfrm>
          <a:prstGeom prst="rect">
            <a:avLst/>
          </a:prstGeom>
          <a:solidFill>
            <a:srgbClr val="1A1464"/>
          </a:solidFill>
          <a:ln w="12700">
            <a:solidFill>
              <a:srgbClr val="1A14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9966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464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978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Regional Expansion — East &amp; West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344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64"/>
                </a:solidFill>
              </a:rPr>
              <a:t>Strategic: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3441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East (₹142K) and West (₹144K) regions significantly underperform North (₹275K). Investigate root causes: logistics gaps, brand awareness, or product-market fit issues.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Tactical: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965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Run targeted digital campaigns in East &amp; West. Pilot offline pop-up events and regional distributor partnerships to capture offline demand.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26080"/>
            <a:ext cx="416052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3035808"/>
            <a:ext cx="777240" cy="2286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0358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REVENUE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Office Supplies &amp; Furniture Upsell Strategy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383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Strategic: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3383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Office Supplies leads revenue; Furniture lags. Bundle high-margin furniture with office supplies for corporate buyers to increase basket size and AOV.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Tactical: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40050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Create 'Corporate Bundle' SKUs and promote through the online channel. Cross-sell furniture to existing loyal Office Supplies customers.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26080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26080"/>
            <a:ext cx="4160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3035808"/>
            <a:ext cx="7772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30358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OPTIMIZE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6636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64"/>
                </a:solidFill>
              </a:rPr>
              <a:t>Channel Mix Optimization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383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Strategic: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33832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Online channel (56%) outperforms offline (44%). Reallocate marketing budget toward online while strengthening offline in regions where it dominates.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Tactical: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40050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A/B test digital ad spend in underperforming regions. Negotiate offline shelf space for top-selling SKUs in South region stores.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Priority: Immediate action on At-Risk retention → Regional expansion → Product bundling → Channel rebalancing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2B8F"/>
          </a:solidFill>
          <a:ln w="12700">
            <a:solidFill>
              <a:srgbClr val="2D2B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007E"/>
                </a:solidFill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Data-Driven Growth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for ABC Corp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01168" cy="201168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33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EE"/>
                </a:solidFill>
              </a:rPr>
              <a:t>North region leads — replicate its success in East &amp; West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01168" cy="201168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99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EE"/>
                </a:solidFill>
              </a:rPr>
              <a:t>Online channel outperforms; prioritize digital investment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01168" cy="201168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364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EE"/>
                </a:solidFill>
              </a:rPr>
              <a:t>Office Supplies is top category — grow Furniture through bundling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01168" cy="201168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730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EE"/>
                </a:solidFill>
              </a:rPr>
              <a:t>28% At-Risk customers need immediate win-back campaign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201168" cy="201168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96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EE"/>
                </a:solidFill>
              </a:rPr>
              <a:t>Top 10 customers drive ~35% revenue — VIP retention is critical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201168" cy="201168"/>
          </a:xfrm>
          <a:prstGeom prst="ellipse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62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EE"/>
                </a:solidFill>
              </a:rPr>
              <a:t>YoY growth of 249% is strong; stabilize MoM volatility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457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Metrics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560320" cy="7498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₹732K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EE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194560"/>
            <a:ext cx="2560320" cy="749808"/>
          </a:xfrm>
          <a:prstGeom prst="rect">
            <a:avLst/>
          </a:prstGeom>
          <a:solidFill>
            <a:srgbClr val="C6007E">
              <a:alpha val="80000"/>
            </a:srgbClr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EE"/>
                </a:solidFill>
              </a:rPr>
              <a:t>Orders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560320" cy="749808"/>
          </a:xfrm>
          <a:prstGeom prst="rect">
            <a:avLst/>
          </a:prstGeom>
          <a:solidFill>
            <a:srgbClr val="C6007E"/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₹1.46K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566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EE"/>
                </a:solidFill>
              </a:rPr>
              <a:t>Avg Order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2560320" cy="749808"/>
          </a:xfrm>
          <a:prstGeom prst="rect">
            <a:avLst/>
          </a:prstGeom>
          <a:solidFill>
            <a:srgbClr val="C6007E">
              <a:alpha val="80000"/>
            </a:srgbClr>
          </a:solidFill>
          <a:ln w="12700">
            <a:solidFill>
              <a:srgbClr val="C600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+249%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17920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EE"/>
                </a:solidFill>
              </a:rPr>
              <a:t>YoY Growth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AA"/>
                </a:solidFill>
              </a:rPr>
              <a:t>Prepared by  |  ABC Corp Data Analytics 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&amp; Customer Segmentation</dc:title>
  <dc:subject>PptxGenJS Presentation</dc:subject>
  <dc:creator>PptxGenJS</dc:creator>
  <cp:lastModifiedBy>PptxGenJS</cp:lastModifiedBy>
  <cp:revision>1</cp:revision>
  <dcterms:created xsi:type="dcterms:W3CDTF">2026-05-12T18:22:03Z</dcterms:created>
  <dcterms:modified xsi:type="dcterms:W3CDTF">2026-05-12T18:22:03Z</dcterms:modified>
</cp:coreProperties>
</file>